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AI-Powered Collections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ED6F1"/>
                </a:solidFill>
              </a:defRPr>
            </a:pPr>
            <a:r>
              <a:t>A Framework for Autonomous, Responsible Debt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</a:defRPr>
            </a:pPr>
            <a:r>
              <a:t>Executive Briefing for Geldium | Tata iQ Analytics Team | March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5029200"/>
            <a:ext cx="2011680" cy="91440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500</a:t>
            </a:r>
          </a:p>
          <a:p>
            <a:pPr algn="ctr"/>
            <a:r>
              <a:rPr sz="1000">
                <a:solidFill>
                  <a:srgbClr val="AED6F1"/>
                </a:solidFill>
              </a:rPr>
              <a:t>Customers Analyzed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5029200"/>
            <a:ext cx="2011680" cy="91440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16%</a:t>
            </a:r>
          </a:p>
          <a:p>
            <a:pPr algn="ctr"/>
            <a:r>
              <a:rPr sz="1000">
                <a:solidFill>
                  <a:srgbClr val="AED6F1"/>
                </a:solidFill>
              </a:rPr>
              <a:t>Delinquency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029200"/>
            <a:ext cx="2011680" cy="91440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Payment Behavior</a:t>
            </a:r>
          </a:p>
          <a:p>
            <a:pPr algn="ctr"/>
            <a:r>
              <a:rPr sz="1000">
                <a:solidFill>
                  <a:srgbClr val="AED6F1"/>
                </a:solidFill>
              </a:rPr>
              <a:t>Top Predictor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5029200"/>
            <a:ext cx="2011680" cy="91440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0.93</a:t>
            </a:r>
          </a:p>
          <a:p>
            <a:pPr algn="ctr"/>
            <a:r>
              <a:rPr sz="1000">
                <a:solidFill>
                  <a:srgbClr val="AED6F1"/>
                </a:solidFill>
              </a:rPr>
              <a:t>Model AUC-ROC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  System Overview: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The AI-powered collections system operates as a continuous 4-stage loop, transforming raw customer data into personalized, adaptive outreach.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68880" cy="384048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/>
            <a:r>
              <a:rPr sz="1400" b="1">
                <a:solidFill>
                  <a:srgbClr val="2E86C1"/>
                </a:solidFill>
              </a:rPr>
              <a:t>1. DATA PIPELINE</a:t>
            </a:r>
          </a:p>
          <a:p>
            <a:pPr algn="ctr">
              <a:spcAft>
                <a:spcPts val="1000"/>
              </a:spcAft>
            </a:pPr>
            <a:r>
              <a:rPr sz="1100" i="1">
                <a:solidFill>
                  <a:srgbClr val="7F8C8D"/>
                </a:solidFill>
              </a:rPr>
              <a:t>Ingest &amp; Enrich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Real-time customer data feeds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Risk scores from predictive model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Payment history &amp; credit bureau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Behavioral signals &amp; trends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3291840"/>
            <a:ext cx="41148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3840480"/>
          </a:xfrm>
          <a:prstGeom prst="round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/>
            <a:r>
              <a:rPr sz="1400" b="1">
                <a:solidFill>
                  <a:srgbClr val="27AE60"/>
                </a:solidFill>
              </a:rPr>
              <a:t>2. DECISION ENGINE</a:t>
            </a:r>
          </a:p>
          <a:p>
            <a:pPr algn="ctr">
              <a:spcAft>
                <a:spcPts val="1000"/>
              </a:spcAft>
            </a:pPr>
            <a:r>
              <a:rPr sz="1100" i="1">
                <a:solidFill>
                  <a:srgbClr val="7F8C8D"/>
                </a:solidFill>
              </a:rPr>
              <a:t>Analyze &amp; Decide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Gradient Boosting risk scoring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Segment into Low / Medium / High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Match risk level to intervention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Apply business rules &amp; constraints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0" y="3291840"/>
            <a:ext cx="41148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2468880" cy="384048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/>
            <a:r>
              <a:rPr sz="1400" b="1">
                <a:solidFill>
                  <a:srgbClr val="E67E22"/>
                </a:solidFill>
              </a:rPr>
              <a:t>3. ACTION LAYER</a:t>
            </a:r>
          </a:p>
          <a:p>
            <a:pPr algn="ctr">
              <a:spcAft>
                <a:spcPts val="1000"/>
              </a:spcAft>
            </a:pPr>
            <a:r>
              <a:rPr sz="1100" i="1">
                <a:solidFill>
                  <a:srgbClr val="7F8C8D"/>
                </a:solidFill>
              </a:rPr>
              <a:t>Execute &amp; Personalize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Trigger SMS/email reminders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Offer payment deferrals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Adjust outreach timing &amp; tone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Escalate high-risk to human agents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15400" y="3291840"/>
            <a:ext cx="411480" cy="365760"/>
          </a:xfrm>
          <a:prstGeom prst="rightArrow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72600" y="1645920"/>
            <a:ext cx="2468880" cy="3840480"/>
          </a:xfrm>
          <a:prstGeom prst="roundRect">
            <a:avLst/>
          </a:prstGeom>
          <a:solidFill>
            <a:srgbClr val="EB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/>
          <a:lstStyle/>
          <a:p>
            <a:pPr algn="ctr"/>
            <a:r>
              <a:rPr sz="1400" b="1">
                <a:solidFill>
                  <a:srgbClr val="8E44AD"/>
                </a:solidFill>
              </a:rPr>
              <a:t>4. LEARNING LOOP</a:t>
            </a:r>
          </a:p>
          <a:p>
            <a:pPr algn="ctr">
              <a:spcAft>
                <a:spcPts val="1000"/>
              </a:spcAft>
            </a:pPr>
            <a:r>
              <a:rPr sz="1100" i="1">
                <a:solidFill>
                  <a:srgbClr val="7F8C8D"/>
                </a:solidFill>
              </a:rPr>
              <a:t>Monitor &amp; Improve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Track repayment outcomes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Measure engagement rates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Retrain model quarterly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2C3E50"/>
                </a:solidFill>
              </a:rPr>
              <a:t>  Update strategies from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86C1"/>
                </a:solidFill>
              </a:defRPr>
            </a:pPr>
            <a:r>
              <a:t>The Learning Loop feeds insights back into the Data Pipeline, creating a self-improving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  System Workflow: From Risk Score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Risk-Based Decision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1371600"/>
          </a:xfrm>
          <a:prstGeom prst="round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1">
                <a:solidFill>
                  <a:srgbClr val="27AE60"/>
                </a:solidFill>
              </a:rPr>
              <a:t>LOW RISK (Score 0 - 0.3)</a:t>
            </a:r>
            <a:r>
              <a:rPr sz="1100">
                <a:solidFill>
                  <a:srgbClr val="7F8C8D"/>
                </a:solidFill>
              </a:rPr>
              <a:t>  |  430 customers (86%)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Standard monthly statement reminders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Self-service payment portal nudges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No direct Collections contact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5303520" cy="1371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1">
                <a:solidFill>
                  <a:srgbClr val="E67E22"/>
                </a:solidFill>
              </a:rPr>
              <a:t>MEDIUM RISK (Score 0.3 - 0.6)</a:t>
            </a:r>
            <a:r>
              <a:rPr sz="1100">
                <a:solidFill>
                  <a:srgbClr val="7F8C8D"/>
                </a:solidFill>
              </a:rPr>
              <a:t>  |  55 customers (11%)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Personalized SMS/email reminders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Proactive payment plan offers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Automated hardship screening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5303520" cy="13716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1">
                <a:solidFill>
                  <a:srgbClr val="C0392B"/>
                </a:solidFill>
              </a:rPr>
              <a:t>HIGH RISK (Score 0.6 - 1.0)</a:t>
            </a:r>
            <a:r>
              <a:rPr sz="1100">
                <a:solidFill>
                  <a:srgbClr val="7F8C8D"/>
                </a:solidFill>
              </a:rPr>
              <a:t>  |  15 customers (3%)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Immediate human agent assignment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Tailored repayment restructuring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    Escalation to senior Collections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Key Model Inputs (Top 5 Predictors)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6459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19456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Avg Payment Severity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6-month payment behavior pattern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Month 5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Recent payment — strong near-term signal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Month 2 Status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Early behavior — establishes baseline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Month 6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Most recent — current risk indicator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Credit Utilization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6.3%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C3E50"/>
                          </a:solidFill>
                        </a:defRPr>
                      </a:pPr>
                      <a:r>
                        <a:t>Financial strain signal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389120"/>
            <a:ext cx="5303520" cy="164592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4805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</a:defRPr>
            </a:pPr>
            <a:r>
              <a:t>Real-Time Adaptation Example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C3E50"/>
                </a:solidFill>
              </a:rPr>
              <a:t>A customer currently scored "Low Risk" misses two consecutive payments. The system automatically re-scores them, upgrades their risk tier to "Medium," and triggers a personalized SMS reminder with a payment plan offer — all within 24 hours, without manual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  Role of Agentic AI: Autonomous vs. Human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Agentic AI makes autonomous decisions where speed and scale matter, while human oversight is preserved for high-stakes and sensitive actions.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Autonomous AI Actions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Human-in-the-Loop Oversight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Real-time risk scoring and tier assignment for all 500+ customers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Approving or denying hardship assistance and payment restructuring requests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Triggering personalized SMS/email reminders based on risk level and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Reviewing all high-risk escalations before legal or final collections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Dynamically adjusting outreach timing and frequency based on engagement data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Overriding AI recommendations when individual circumstances warrant exceptions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Re-scoring customers when new payment data arrives (within 24 hours)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Quarterly model performance review and bias audit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Routing medium-risk cases to automated hardship screening workflows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Setting and adjusting business rules, thresholds, and outreach tone guidelines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Monitoring repayment outcomes and updating model confidence scores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C3E50"/>
                          </a:solidFill>
                        </a:defRPr>
                      </a:pPr>
                      <a:r>
                        <a:t>Final approval on any action that could negatively impact a customer's credit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5943600"/>
            <a:ext cx="9418320" cy="64008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Principle: AI handles speed and scale. Humans handle judgment and accountability. No customer-harming action is taken without human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  Responsible AI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486400" cy="2377440"/>
          </a:xfrm>
          <a:prstGeom prst="round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 t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7AE60"/>
                </a:solidFill>
              </a:rPr>
              <a:t>Fairness &amp; Bias Prevention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Disparate impact audits across employment, location, and age groups every quarter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Exclude proxy variables (e.g., location) if they encode demographic bias without improving accuracy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Group-specific threshold calibration to ensure predicted rates align with actual rates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Diverse, representative training data with SMOTE to prevent class imbalance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97280"/>
            <a:ext cx="5486400" cy="2377440"/>
          </a:xfrm>
          <a:prstGeom prst="roundRect">
            <a:avLst/>
          </a:prstGeom>
          <a:solidFill>
            <a:srgbClr val="D6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 t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86C1"/>
                </a:solidFill>
              </a:rPr>
              <a:t>Explainability &amp; Transparency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SHAP values provide per-customer explanations: 'Flagged due to 3 missed payments + 92% credit utilization'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Companion Decision Tree model generates plain-language if/then rules for Collections staff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Full audit trail of every AI decision — what was decided, why, and what data was used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Customer-facing explanations for any adverse action, with clear appeal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657600"/>
            <a:ext cx="5486400" cy="23774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 t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67E22"/>
                </a:solidFill>
              </a:rPr>
              <a:t>Regulatory Compliance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ECOA: Model validated to not discriminate by protected characteristics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GDPR: Right to explanation honored — customers can request reasons for any automated decision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FCA: Proportionate collections — system prevents overly aggressive outreach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FCRA: Only current, accurate data used; outdated records excluded from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657600"/>
            <a:ext cx="5486400" cy="2377440"/>
          </a:xfrm>
          <a:prstGeom prst="roundRect">
            <a:avLst/>
          </a:prstGeom>
          <a:solidFill>
            <a:srgbClr val="EB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 t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8E44AD"/>
                </a:solidFill>
              </a:rPr>
              <a:t>Continuous Monitoring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Quarterly model retraining with fresh customer data to prevent drift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Monthly fairness metric dashboards reviewed by Compliance team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Automated alerts if Disparate Impact Ratio falls below 0.80 threshold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050">
                <a:solidFill>
                  <a:srgbClr val="2C3E50"/>
                </a:solidFill>
              </a:rPr>
              <a:t>  Annual independent audit by external ethics review 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  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Quantitative Outcomes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4480"/>
            <a:ext cx="914400" cy="914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459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Reduction in delinquency rate</a:t>
            </a:r>
            <a:br/>
            <a:r>
              <a:t>among high-risk segments</a:t>
            </a:r>
          </a:p>
        </p:txBody>
      </p:sp>
      <p:sp>
        <p:nvSpPr>
          <p:cNvPr id="6" name="Oval 5"/>
          <p:cNvSpPr/>
          <p:nvPr/>
        </p:nvSpPr>
        <p:spPr>
          <a:xfrm>
            <a:off x="3291840" y="1554480"/>
            <a:ext cx="914400" cy="9144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459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Reduction in manual outreach</a:t>
            </a:r>
            <a:br/>
            <a:r>
              <a:t>effort through automation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8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0175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Improvement in early intervention</a:t>
            </a:r>
            <a:br/>
            <a:r>
              <a:t>success rate</a:t>
            </a:r>
          </a:p>
        </p:txBody>
      </p:sp>
      <p:sp>
        <p:nvSpPr>
          <p:cNvPr id="10" name="Oval 9"/>
          <p:cNvSpPr/>
          <p:nvPr/>
        </p:nvSpPr>
        <p:spPr>
          <a:xfrm>
            <a:off x="3291840" y="2926080"/>
            <a:ext cx="914400" cy="9144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01752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Reduction in cost-per-collection</a:t>
            </a:r>
            <a:br/>
            <a:r>
              <a:t>through targeted outreach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</a:defRPr>
            </a:pPr>
            <a:r>
              <a:t>Qualitative Outcomes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394960" cy="105156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/>
            <a:r>
              <a:rPr sz="1300" b="1">
                <a:solidFill>
                  <a:srgbClr val="1B3A5C"/>
                </a:solidFill>
              </a:rPr>
              <a:t>Better Customer Experience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C3E50"/>
                </a:solidFill>
              </a:rPr>
              <a:t>Personalized, empathetic outreach replaces generic collection calls. Customers receive support tailored to their financial situation, improving satisfaction and retention.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0"/>
            <a:ext cx="5394960" cy="105156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/>
            <a:r>
              <a:rPr sz="1300" b="1">
                <a:solidFill>
                  <a:srgbClr val="1B3A5C"/>
                </a:solidFill>
              </a:rPr>
              <a:t>Increased Fairness &amp; Trust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C3E50"/>
                </a:solidFill>
              </a:rPr>
              <a:t>Transparent AI decisions with SHAP explanations and human oversight build customer and regulator confidence. No demographic group is systematically disadvantaged.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5394960" cy="105156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/>
            <a:r>
              <a:rPr sz="1300" b="1">
                <a:solidFill>
                  <a:srgbClr val="1B3A5C"/>
                </a:solidFill>
              </a:rPr>
              <a:t>Operational Scalability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C3E50"/>
                </a:solidFill>
              </a:rPr>
              <a:t>The system handles growing customer volumes without proportional staff increases. Collections team focuses on complex cases while AI manages routine outreach.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5120640"/>
            <a:ext cx="5394960" cy="105156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91440"/>
          <a:lstStyle/>
          <a:p>
            <a:pPr algn="ctr"/>
            <a:r>
              <a:rPr sz="1300" b="1">
                <a:solidFill>
                  <a:srgbClr val="1B3A5C"/>
                </a:solidFill>
              </a:rPr>
              <a:t>Regulatory Confidence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C3E50"/>
                </a:solidFill>
              </a:rPr>
              <a:t>Built-in compliance with ECOA, GDPR, FCA, and FCRA standards ensures Geldium is audit-ready and protected against regulatory penalties.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Bottom Line: AI-powered collections delivers measurable financial savings, fairer outcomes, and a scalable system Geldium can grow with.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51760" cy="201168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AED6F1"/>
                </a:solidFill>
              </a:rPr>
              <a:t>System Design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4-stage continuous loop:
Data Pipeline &gt; Decision Engine &gt;
Action Layer &gt; Learning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651760" cy="201168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AED6F1"/>
                </a:solidFill>
              </a:rPr>
              <a:t>Agentic AI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Autonomous for speed &amp; scale.
Human oversight for judgment
&amp; high-stakes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2651760" cy="201168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AED6F1"/>
                </a:solidFill>
              </a:rPr>
              <a:t>Guardrails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Fairness audits, SHAP explainability,
regulatory compliance (ECOA/GDPR/
FCA), continuous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463040"/>
            <a:ext cx="2651760" cy="2011680"/>
          </a:xfrm>
          <a:prstGeom prst="roundRect">
            <a:avLst/>
          </a:prstGeom>
          <a:solidFill>
            <a:srgbClr val="2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AED6F1"/>
                </a:solidFill>
              </a:rPr>
              <a:t>Business Impact</a:t>
            </a:r>
          </a:p>
          <a:p>
            <a:pPr algn="ctr"/>
            <a:r>
              <a:rPr sz="1150">
                <a:solidFill>
                  <a:srgbClr val="FFFFFF"/>
                </a:solidFill>
              </a:rPr>
              <a:t>15% delinquency reduction,
40% less manual effort,
fairer &amp; scalable collections.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ED6F1"/>
                </a:solidFill>
              </a:defRPr>
            </a:pPr>
            <a:r>
              <a:t>Recommended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1. Pilot Phase (90 days): Deploy AI risk scoring for Medium-Risk segment with automated SMS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2. Validation (Month 4-6): Measure delinquency reduction, fairness metrics, and customer satisfaction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3. Scale (Month 7-12): Expand to all risk tiers, integrate with CRM, and enable full adaptive learning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235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4. Ongoing: Quarterly model retraining, monthly fairness audits, annual independent ethics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AI &amp; GenAI Disclosure: This presentation was developed with assistance from Claude Code (GenAI) for analysis, framework design, and slide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